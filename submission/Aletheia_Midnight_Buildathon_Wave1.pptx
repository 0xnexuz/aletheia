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16e010ad754167" /><Relationship Type="http://schemas.openxmlformats.org/officeDocument/2006/relationships/extended-properties" Target="/docProps/app.xml" Id="R7f479018d53c4ab1" /><Relationship Type="http://schemas.openxmlformats.org/officeDocument/2006/relationships/officeDocument" Target="/ppt/presentation.xml" Id="R19deea18797643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64038e06cd4fac"/>
  </p:sldMasterIdLst>
  <p:notesMasterIdLst>
    <p:notesMasterId xmlns:r="http://schemas.openxmlformats.org/officeDocument/2006/relationships" r:id="R86d7650d2ed040ba"/>
  </p:notesMasterIdLst>
  <p:sldIdLst>
    <p:sldId xmlns:r="http://schemas.openxmlformats.org/officeDocument/2006/relationships" id="256" r:id="Reddcbead0dfd417c"/>
    <p:sldId xmlns:r="http://schemas.openxmlformats.org/officeDocument/2006/relationships" id="257" r:id="Rf260084b59ff4340"/>
    <p:sldId xmlns:r="http://schemas.openxmlformats.org/officeDocument/2006/relationships" id="258" r:id="Rbba4a25a3a824705"/>
    <p:sldId xmlns:r="http://schemas.openxmlformats.org/officeDocument/2006/relationships" id="259" r:id="R198c930fcce1414a"/>
    <p:sldId xmlns:r="http://schemas.openxmlformats.org/officeDocument/2006/relationships" id="260" r:id="R3e9ad08feae74a5e"/>
    <p:sldId xmlns:r="http://schemas.openxmlformats.org/officeDocument/2006/relationships" id="261" r:id="R6ed2d2140fdf473e"/>
    <p:sldId xmlns:r="http://schemas.openxmlformats.org/officeDocument/2006/relationships" id="262" r:id="R015c5c5fa83441d4"/>
    <p:sldId xmlns:r="http://schemas.openxmlformats.org/officeDocument/2006/relationships" id="263" r:id="R26ccd537ed614c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1aaa5322184470" /><Relationship Type="http://schemas.openxmlformats.org/officeDocument/2006/relationships/slideMaster" Target="/ppt/slideMasters/slideMaster1.xml" Id="R5964038e06cd4fac" /><Relationship Type="http://schemas.openxmlformats.org/officeDocument/2006/relationships/notesMaster" Target="/ppt/notesMasters/notesMaster1.xml" Id="R86d7650d2ed040ba" /><Relationship Type="http://schemas.openxmlformats.org/officeDocument/2006/relationships/presProps" Target="/ppt/presProps.xml" Id="R009513fe0cc2436e" /><Relationship Type="http://schemas.openxmlformats.org/officeDocument/2006/relationships/tableStyles" Target="/ppt/tableStyles.xml" Id="R3277d97929c34fd0" /><Relationship Type="http://schemas.openxmlformats.org/officeDocument/2006/relationships/slide" Target="/ppt/slides/slide1.xml" Id="Reddcbead0dfd417c" /><Relationship Type="http://schemas.openxmlformats.org/officeDocument/2006/relationships/slide" Target="/ppt/slides/slide2.xml" Id="Rf260084b59ff4340" /><Relationship Type="http://schemas.openxmlformats.org/officeDocument/2006/relationships/slide" Target="/ppt/slides/slide3.xml" Id="Rbba4a25a3a824705" /><Relationship Type="http://schemas.openxmlformats.org/officeDocument/2006/relationships/slide" Target="/ppt/slides/slide4.xml" Id="R198c930fcce1414a" /><Relationship Type="http://schemas.openxmlformats.org/officeDocument/2006/relationships/slide" Target="/ppt/slides/slide5.xml" Id="R3e9ad08feae74a5e" /><Relationship Type="http://schemas.openxmlformats.org/officeDocument/2006/relationships/slide" Target="/ppt/slides/slide6.xml" Id="R6ed2d2140fdf473e" /><Relationship Type="http://schemas.openxmlformats.org/officeDocument/2006/relationships/slide" Target="/ppt/slides/slide7.xml" Id="R015c5c5fa83441d4" /><Relationship Type="http://schemas.openxmlformats.org/officeDocument/2006/relationships/slide" Target="/ppt/slides/slide8.xml" Id="R26ccd537ed61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6497adaac844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7cc0549b224375" /><Relationship Type="http://schemas.openxmlformats.org/officeDocument/2006/relationships/notesMaster" Target="/ppt/notesMasters/notesMaster1.xml" Id="Rf4d8aa5ab04a47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4d9161cf254051" /><Relationship Type="http://schemas.openxmlformats.org/officeDocument/2006/relationships/notesMaster" Target="/ppt/notesMasters/notesMaster1.xml" Id="R04b3d723e9bf46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51e34344634ad1" /><Relationship Type="http://schemas.openxmlformats.org/officeDocument/2006/relationships/notesMaster" Target="/ppt/notesMasters/notesMaster1.xml" Id="R3ad108fbc09947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709b8d14c24d49" /><Relationship Type="http://schemas.openxmlformats.org/officeDocument/2006/relationships/notesMaster" Target="/ppt/notesMasters/notesMaster1.xml" Id="R9d3b33b4f0d644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10c69ac9a94e00" /><Relationship Type="http://schemas.openxmlformats.org/officeDocument/2006/relationships/notesMaster" Target="/ppt/notesMasters/notesMaster1.xml" Id="Rf161977d49924e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cc81bdc76c405c" /><Relationship Type="http://schemas.openxmlformats.org/officeDocument/2006/relationships/notesMaster" Target="/ppt/notesMasters/notesMaster1.xml" Id="R097f131b20394f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38956f1ce4432d" /><Relationship Type="http://schemas.openxmlformats.org/officeDocument/2006/relationships/notesMaster" Target="/ppt/notesMasters/notesMaster1.xml" Id="R5bab4b3666a143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37f01b88524c81" /><Relationship Type="http://schemas.openxmlformats.org/officeDocument/2006/relationships/notesMaster" Target="/ppt/notesMasters/notesMaster1.xml" Id="R7b31cc1d98fc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tension: aid programs need accountability, but identity databases expose vulnerable people.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https://github.com/0xNexuz/aletheia</a:t>
            </a:r>
          </a:p>
          <a:p xmlns:a="http://schemas.openxmlformats.org/drawingml/2006/main">
            <a:r>
              <a:t>- https://api.akindo.io/public/wave-hacks/jaMZjqPOBsLXvjdG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Correction 2026-09-05: Inventory caps and receipts are backend operations, not checks in the deployed Compact claim circuit. The demo issuer accepts new commitments; duplicate rejection is for the same secret and program. Wallet, issuer and network metadata can still correlate activity. Remote proof providers may receive witnesses.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Verified release: main merge 0b76d57; 57 application tests plus 7 compiled-contract tests. Production dependency audit found zero known advisories on 2026-09-04. This is not an independent security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Operational contract: 7e4e3c18a2a139711f17085aef0aa66c953fa901900ab66895c9a26cca257fa5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transaction: 75d2978454c959f71f71b200177a865aec9a31ee316580ac5bb0df1abddad88a; identifier 00717e8efcb983c2cf45dcd0d763690ce7a70aa9b133aa370d8d06cfbd0a01fddd; block 2391682. The standalone transaction does not finalize backend inventory. Additional public duplicate and cross-program captures are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https://github.com/0xNexuz/aletheia/blob/main/evidence/claim-preprod-food-support.json</a:t>
            </a:r>
          </a:p>
          <a:p xmlns:a="http://schemas.openxmlformats.org/drawingml/2006/main">
            <a:r>
              <a:t>https://github.com/0xNexuz/aletheia/blob/main/contract/src/aletheia.compact</a:t>
            </a:r>
          </a:p>
          <a:p xmlns:a="http://schemas.openxmlformats.org/drawingml/2006/main">
            <a:r>
              <a:t>https://github.com/0xNexuz/aletheia/blob/main/PRIVACY.md</a:t>
            </a:r>
          </a:p>
          <a:p xmlns:a="http://schemas.openxmlformats.org/drawingml/2006/main">
            <a:r>
              <a:t>https://github.com/0xNexuz/aletheia/blob/main/WAVE1_PROGRESS.md</a:t>
            </a:r>
          </a:p>
          <a:p xmlns:a="http://schemas.openxmlformats.org/drawingml/2006/main">
            <a:r>
              <a:t>https://alethia-pi.vercel.app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privacy as a product constraint, not a decorative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https://github.com/0xNexuz/aletheia/blob/main/PRIVACY.md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Correction 2026-09-05: Inventory caps and receipts are backend operations, not checks in the deployed Compact claim circuit. The demo issuer accepts new commitments; duplicate rejection is for the same secret and program. Wallet, issuer and network metadata can still correlate activity. Remote proof providers may receive witnesses.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Verified release: main merge 0b76d57; 57 application tests plus 7 compiled-contract tests. Production dependency audit found zero known advisories on 2026-09-04. This is not an independent security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Operational contract: 7e4e3c18a2a139711f17085aef0aa66c953fa901900ab66895c9a26cca257fa5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transaction: 75d2978454c959f71f71b200177a865aec9a31ee316580ac5bb0df1abddad88a; identifier 00717e8efcb983c2cf45dcd0d763690ce7a70aa9b133aa370d8d06cfbd0a01fddd; block 2391682. The standalone transaction does not finalize backend inventory. Additional public duplicate and cross-program captures are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https://github.com/0xNexuz/aletheia/blob/main/evidence/claim-preprod-food-support.json</a:t>
            </a:r>
          </a:p>
          <a:p xmlns:a="http://schemas.openxmlformats.org/drawingml/2006/main">
            <a:r>
              <a:t>https://github.com/0xNexuz/aletheia/blob/main/contract/src/aletheia.compact</a:t>
            </a:r>
          </a:p>
          <a:p xmlns:a="http://schemas.openxmlformats.org/drawingml/2006/main">
            <a:r>
              <a:t>https://github.com/0xNexuz/aletheia/blob/main/PRIVACY.md</a:t>
            </a:r>
          </a:p>
          <a:p xmlns:a="http://schemas.openxmlformats.org/drawingml/2006/main">
            <a:r>
              <a:t>https://github.com/0xNexuz/aletheia/blob/main/WAVE1_PROGRESS.md</a:t>
            </a:r>
          </a:p>
          <a:p xmlns:a="http://schemas.openxmlformats.org/drawingml/2006/main">
            <a:r>
              <a:t>https://alethia-pi.vercel.app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private inputs never need to become a public identity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https://github.com/0xNexuz/aletheia/blob/main/contract/src/aletheia.compact</a:t>
            </a:r>
          </a:p>
          <a:p xmlns:a="http://schemas.openxmlformats.org/drawingml/2006/main">
            <a:r>
              <a:t>- https://github.com/0xNexuz/aletheia/blob/main/ARCHITECTURE.md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Correction 2026-09-05: Inventory caps and receipts are backend operations, not checks in the deployed Compact claim circuit. The demo issuer accepts new commitments; duplicate rejection is for the same secret and program. Wallet, issuer and network metadata can still correlate activity. Remote proof providers may receive witnesses.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Verified release: main merge 0b76d57; 57 application tests plus 7 compiled-contract tests. Production dependency audit found zero known advisories on 2026-09-04. This is not an independent security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Operational contract: 7e4e3c18a2a139711f17085aef0aa66c953fa901900ab66895c9a26cca257fa5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transaction: 75d2978454c959f71f71b200177a865aec9a31ee316580ac5bb0df1abddad88a; identifier 00717e8efcb983c2cf45dcd0d763690ce7a70aa9b133aa370d8d06cfbd0a01fddd; block 2391682. The standalone transaction does not finalize backend inventory. Additional public duplicate and cross-program captures are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https://github.com/0xNexuz/aletheia/blob/main/evidence/claim-preprod-food-support.json</a:t>
            </a:r>
          </a:p>
          <a:p xmlns:a="http://schemas.openxmlformats.org/drawingml/2006/main">
            <a:r>
              <a:t>https://github.com/0xNexuz/aletheia/blob/main/contract/src/aletheia.compact</a:t>
            </a:r>
          </a:p>
          <a:p xmlns:a="http://schemas.openxmlformats.org/drawingml/2006/main">
            <a:r>
              <a:t>https://github.com/0xNexuz/aletheia/blob/main/PRIVACY.md</a:t>
            </a:r>
          </a:p>
          <a:p xmlns:a="http://schemas.openxmlformats.org/drawingml/2006/main">
            <a:r>
              <a:t>https://github.com/0xNexuz/aletheia/blob/main/WAVE1_PROGRESS.md</a:t>
            </a:r>
          </a:p>
          <a:p xmlns:a="http://schemas.openxmlformats.org/drawingml/2006/main">
            <a:r>
              <a:t>https://alethia-pi.vercel.app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program scope prevents the nullifier from becoming a global tracking 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https://github.com/0xNexuz/aletheia/blob/main/PRIVACY.md</a:t>
            </a:r>
          </a:p>
          <a:p xmlns:a="http://schemas.openxmlformats.org/drawingml/2006/main">
            <a:r>
              <a:t>- https://github.com/0xNexuz/aletheia/blob/main/tests/privacy-contract.test.mjs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Correction 2026-09-05: Inventory caps and receipts are backend operations, not checks in the deployed Compact claim circuit. The demo issuer accepts new commitments; duplicate rejection is for the same secret and program. Wallet, issuer and network metadata can still correlate activity. Remote proof providers may receive witnesses.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Verified release: main merge 0b76d57; 57 application tests plus 7 compiled-contract tests. Production dependency audit found zero known advisories on 2026-09-04. This is not an independent security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Operational contract: 7e4e3c18a2a139711f17085aef0aa66c953fa901900ab66895c9a26cca257fa5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transaction: 75d2978454c959f71f71b200177a865aec9a31ee316580ac5bb0df1abddad88a; identifier 00717e8efcb983c2cf45dcd0d763690ce7a70aa9b133aa370d8d06cfbd0a01fddd; block 2391682. The standalone transaction does not finalize backend inventory. Additional public duplicate and cross-program captures are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https://github.com/0xNexuz/aletheia/blob/main/evidence/claim-preprod-food-support.json</a:t>
            </a:r>
          </a:p>
          <a:p xmlns:a="http://schemas.openxmlformats.org/drawingml/2006/main">
            <a:r>
              <a:t>https://github.com/0xNexuz/aletheia/blob/main/contract/src/aletheia.compact</a:t>
            </a:r>
          </a:p>
          <a:p xmlns:a="http://schemas.openxmlformats.org/drawingml/2006/main">
            <a:r>
              <a:t>https://github.com/0xNexuz/aletheia/blob/main/PRIVACY.md</a:t>
            </a:r>
          </a:p>
          <a:p xmlns:a="http://schemas.openxmlformats.org/drawingml/2006/main">
            <a:r>
              <a:t>https://github.com/0xNexuz/aletheia/blob/main/WAVE1_PROGRESS.md</a:t>
            </a:r>
          </a:p>
          <a:p xmlns:a="http://schemas.openxmlformats.org/drawingml/2006/main">
            <a:r>
              <a:t>https://alethia-pi.vercel.app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2026-09-05: Inventory caps and receipts are backend operations, not checks in the deployed Compact claim circuit. The demo issuer accepts new commitments; duplicate rejection is for the same secret and program. Wallet, issuer and network metadata can still correlate activity. Remote proof providers may receive witnesses.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Verified release: main merge 0b76d57; 57 application tests plus 7 compiled-contract tests. Production dependency audit found zero known advisories on 2026-09-04. This is not an independent security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Operational contract: 7e4e3c18a2a139711f17085aef0aa66c953fa901900ab66895c9a26cca257fa5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transaction: 75d2978454c959f71f71b200177a865aec9a31ee316580ac5bb0df1abddad88a; identifier 00717e8efcb983c2cf45dcd0d763690ce7a70aa9b133aa370d8d06cfbd0a01fddd; block 2391682. The standalone transaction does not finalize backend inventory. Additional public duplicate and cross-program captures are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https://github.com/0xNexuz/aletheia/blob/main/evidence/claim-preprod-food-support.json</a:t>
            </a:r>
          </a:p>
          <a:p xmlns:a="http://schemas.openxmlformats.org/drawingml/2006/main">
            <a:r>
              <a:t>https://github.com/0xNexuz/aletheia/blob/main/contract/src/aletheia.compact</a:t>
            </a:r>
          </a:p>
          <a:p xmlns:a="http://schemas.openxmlformats.org/drawingml/2006/main">
            <a:r>
              <a:t>https://github.com/0xNexuz/aletheia/blob/main/PRIVACY.md</a:t>
            </a:r>
          </a:p>
          <a:p xmlns:a="http://schemas.openxmlformats.org/drawingml/2006/main">
            <a:r>
              <a:t>https://github.com/0xNexuz/aletheia/blob/main/WAVE1_PROGRESS.md</a:t>
            </a:r>
          </a:p>
          <a:p xmlns:a="http://schemas.openxmlformats.org/drawingml/2006/main">
            <a:r>
              <a:t>https://alethia-pi.vercel.app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numbers as entry points, then name the qualitative hardening: generated artifacts, encrypted private state, Preprod validation, and reconciliation.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https://github.com/0xNexuz/aletheia/blob/main/WAVE1_PROGRESS.md</a:t>
            </a:r>
          </a:p>
          <a:p xmlns:a="http://schemas.openxmlformats.org/drawingml/2006/main">
            <a:r>
              <a:t>- https://github.com/0xNexuz/aletheia/tree/main/tests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Correction 2026-09-05: Inventory caps and receipts are backend operations, not checks in the deployed Compact claim circuit. The demo issuer accepts new commitments; duplicate rejection is for the same secret and program. Wallet, issuer and network metadata can still correlate activity. Remote proof providers may receive witnesses.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Verified release: main merge 0b76d57; 57 application tests plus 7 compiled-contract tests. Production dependency audit found zero known advisories on 2026-09-04. This is not an independent security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Operational contract: 7e4e3c18a2a139711f17085aef0aa66c953fa901900ab66895c9a26cca257fa5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transaction: 75d2978454c959f71f71b200177a865aec9a31ee316580ac5bb0df1abddad88a; identifier 00717e8efcb983c2cf45dcd0d763690ce7a70aa9b133aa370d8d06cfbd0a01fddd; block 2391682. The standalone transaction does not finalize backend inventory. Additional public duplicate and cross-program captures are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https://github.com/0xNexuz/aletheia/blob/main/evidence/claim-preprod-food-support.json</a:t>
            </a:r>
          </a:p>
          <a:p xmlns:a="http://schemas.openxmlformats.org/drawingml/2006/main">
            <a:r>
              <a:t>https://github.com/0xNexuz/aletheia/blob/main/contract/src/aletheia.compact</a:t>
            </a:r>
          </a:p>
          <a:p xmlns:a="http://schemas.openxmlformats.org/drawingml/2006/main">
            <a:r>
              <a:t>https://github.com/0xNexuz/aletheia/blob/main/PRIVACY.md</a:t>
            </a:r>
          </a:p>
          <a:p xmlns:a="http://schemas.openxmlformats.org/drawingml/2006/main">
            <a:r>
              <a:t>https://github.com/0xNexuz/aletheia/blob/main/WAVE1_PROGRESS.md</a:t>
            </a:r>
          </a:p>
          <a:p xmlns:a="http://schemas.openxmlformats.org/drawingml/2006/main">
            <a:r>
              <a:t>https://alethia-pi.vercel.app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2026-09-05: Inventory caps and receipts are backend operations, not checks in the deployed Compact claim circuit. The demo issuer accepts new commitments; duplicate rejection is for the same secret and program. Wallet, issuer and network metadata can still correlate activity. Remote proof providers may receive witnesses.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Verified release: main merge 0b76d57; 57 application tests plus 7 compiled-contract tests. Production dependency audit found zero known advisories on 2026-09-04. This is not an independent security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Operational contract: 7e4e3c18a2a139711f17085aef0aa66c953fa901900ab66895c9a26cca257fa5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transaction: 75d2978454c959f71f71b200177a865aec9a31ee316580ac5bb0df1abddad88a; identifier 00717e8efcb983c2cf45dcd0d763690ce7a70aa9b133aa370d8d06cfbd0a01fddd; block 2391682. The standalone transaction does not finalize backend inventory. Additional public duplicate and cross-program captures are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https://github.com/0xNexuz/aletheia/blob/main/evidence/claim-preprod-food-support.json</a:t>
            </a:r>
          </a:p>
          <a:p xmlns:a="http://schemas.openxmlformats.org/drawingml/2006/main">
            <a:r>
              <a:t>https://github.com/0xNexuz/aletheia/blob/main/contract/src/aletheia.compact</a:t>
            </a:r>
          </a:p>
          <a:p xmlns:a="http://schemas.openxmlformats.org/drawingml/2006/main">
            <a:r>
              <a:t>https://github.com/0xNexuz/aletheia/blob/main/PRIVACY.md</a:t>
            </a:r>
          </a:p>
          <a:p xmlns:a="http://schemas.openxmlformats.org/drawingml/2006/main">
            <a:r>
              <a:t>https://github.com/0xNexuz/aletheia/blob/main/WAVE1_PROGRESS.md</a:t>
            </a:r>
          </a:p>
          <a:p xmlns:a="http://schemas.openxmlformats.org/drawingml/2006/main">
            <a:r>
              <a:t>https://alethia-pi.vercel.app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tension: accountability can be public without making the claimant public.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https://alethia-pi.vercel.app</a:t>
            </a:r>
          </a:p>
          <a:p xmlns:a="http://schemas.openxmlformats.org/drawingml/2006/main">
            <a:r>
              <a:t>- https://github.com/0xNexuz/aletheia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Correction 2026-09-05: Inventory caps and receipts are backend operations, not checks in the deployed Compact claim circuit. The demo issuer accepts new commitments; duplicate rejection is for the same secret and program. Wallet, issuer and network metadata can still correlate activity. Remote proof providers may receive witnesses.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Verified release: main merge 0b76d57; 57 application tests plus 7 compiled-contract tests. Production dependency audit found zero known advisories on 2026-09-04. This is not an independent security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Operational contract: 7e4e3c18a2a139711f17085aef0aa66c953fa901900ab66895c9a26cca257fa5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transaction: 75d2978454c959f71f71b200177a865aec9a31ee316580ac5bb0df1abddad88a; identifier 00717e8efcb983c2cf45dcd0d763690ce7a70aa9b133aa370d8d06cfbd0a01fddd; block 2391682. The standalone transaction does not finalize backend inventory. Additional public duplicate and cross-program captures are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https://github.com/0xNexuz/aletheia/blob/main/evidence/claim-preprod-food-support.json</a:t>
            </a:r>
          </a:p>
          <a:p xmlns:a="http://schemas.openxmlformats.org/drawingml/2006/main">
            <a:r>
              <a:t>https://github.com/0xNexuz/aletheia/blob/main/contract/src/aletheia.compact</a:t>
            </a:r>
          </a:p>
          <a:p xmlns:a="http://schemas.openxmlformats.org/drawingml/2006/main">
            <a:r>
              <a:t>https://github.com/0xNexuz/aletheia/blob/main/PRIVACY.md</a:t>
            </a:r>
          </a:p>
          <a:p xmlns:a="http://schemas.openxmlformats.org/drawingml/2006/main">
            <a:r>
              <a:t>https://github.com/0xNexuz/aletheia/blob/main/WAVE1_PROGRESS.md</a:t>
            </a:r>
          </a:p>
          <a:p xmlns:a="http://schemas.openxmlformats.org/drawingml/2006/main">
            <a:r>
              <a:t>https://alethia-pi.vercel.app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01c6fecd04e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3e2690db4b4dc9" /><Relationship Type="http://schemas.openxmlformats.org/officeDocument/2006/relationships/slideLayout" Target="/ppt/slideLayouts/slideLayout1.xml" Id="R063fb93c815a4b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3fb93c815a4b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a84a323c74d4d" /><Relationship Type="http://schemas.openxmlformats.org/officeDocument/2006/relationships/image" Target="/ppt/media/image.png" Id="R839de441f72944fd" /><Relationship Type="http://schemas.openxmlformats.org/officeDocument/2006/relationships/notesSlide" Target="/ppt/notesSlides/notesSlide1.xml" Id="Rb68821fe266846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695c069554ff1" /><Relationship Type="http://schemas.openxmlformats.org/officeDocument/2006/relationships/notesSlide" Target="/ppt/notesSlides/notesSlide2.xml" Id="R804f0f5005f14f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1f6bc319d4819" /><Relationship Type="http://schemas.openxmlformats.org/officeDocument/2006/relationships/notesSlide" Target="/ppt/notesSlides/notesSlide3.xml" Id="Rb3ee12479c6040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57e3aac6a4579" /><Relationship Type="http://schemas.openxmlformats.org/officeDocument/2006/relationships/notesSlide" Target="/ppt/notesSlides/notesSlide4.xml" Id="R52ba1fa13a3849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4092369b54f35" /><Relationship Type="http://schemas.openxmlformats.org/officeDocument/2006/relationships/image" Target="/ppt/media/image2.png" Id="Rf0bd6ce5d1024b71" /><Relationship Type="http://schemas.openxmlformats.org/officeDocument/2006/relationships/notesSlide" Target="/ppt/notesSlides/notesSlide5.xml" Id="R0e6779b90b494c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0b6ba9e06493e" /><Relationship Type="http://schemas.openxmlformats.org/officeDocument/2006/relationships/notesSlide" Target="/ppt/notesSlides/notesSlide6.xml" Id="R537a376e33b34c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1b618043149c9" /><Relationship Type="http://schemas.openxmlformats.org/officeDocument/2006/relationships/notesSlide" Target="/ppt/notesSlides/notesSlide7.xml" Id="R37dc12f0ab624e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4fc9584874c39" /><Relationship Type="http://schemas.openxmlformats.org/officeDocument/2006/relationships/notesSlide" Target="/ppt/notesSlides/notesSlide8.xml" Id="R692806e8a5194e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0D16B-F7A3-4376-95B2-57129C6D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"/>
            <a:ext cx="5143500" cy="5715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22824F7-CD2A-4B41-A633-4EB1C0F6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MIDNIGHT BUILDATHON · WAVE 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E695962-0952-434C-95D5-6EFAFD0B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Aletheia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C41443E-DF38-485A-96BB-827E7659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Proof without exposure.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21CE528-F2D8-4D37-9A3E-2BC63E1E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194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Verify private eligibility and prevent repeat claims per claimant secret and aid program.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A92CCD-71CE-438E-A934-62233A5B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Compact contract · private witnesses · program-scoped nullifiers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de441f72944fd"/>
          <a:stretch xmlns:a="http://schemas.openxmlformats.org/drawingml/2006/main"/>
        </p:blipFill>
        <p:spPr>
          <a:xfrm xmlns:a="http://schemas.openxmlformats.org/drawingml/2006/main">
            <a:off x="7124700" y="2182813"/>
            <a:ext cx="4048125" cy="1349375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504A5C-804C-4F12-8E77-68477A61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5204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6B7982-1D51-4B77-B427-46243873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91FAB9-D32E-4A1A-B101-43222072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Duplicate prevention should not become surveillance.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40345F8-D9AA-490F-A809-9B50271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D9DAB1-AFAC-473C-A654-D274D610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Aid programs must answer two legitimate questions: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1A3301-7761-48B9-A98B-DE19C94D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04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57B461-1E0C-43C5-8809-C2C6966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90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Has this claimant secret claimed here?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93B4433-EC45-4C93-AE31-00889573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D9CD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D9CD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072150-AB5D-41BB-9B2D-DB6CD2E3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7192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Is there still verified inventory available?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26C6C-BC32-4371-8C4E-C5F8034D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57350"/>
            <a:ext cx="500062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B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9016D1-2516-40BD-B60D-0777F7AF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9B6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B6FF"/>
                </a:solidFill>
                <a:latin typeface="Arial"/>
                <a:ea typeface="Arial"/>
                <a:cs typeface="Arial"/>
              </a:rPr>
              <a:t>The usual shortcut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A4F524A-A8E3-4102-AB17-9D5482E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14625"/>
            <a:ext cx="381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 identity.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Reuse a public identifier.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tracking surface.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0E31907-906A-4D73-AA75-78FDA8D7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Aletheia proves the facts instead.</a:t>
            </a:r>
          </a:p>
        </p:txBody>
      </p:sp>
    </p:spTree>
    <p:extLst>
      <p:ext uri="{BB962C8B-B14F-4D97-AF65-F5344CB8AC3E}">
        <p14:creationId xmlns:p14="http://schemas.microsoft.com/office/powerpoint/2010/main" val="1259563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C80C36-E689-4D9A-88C5-23B59648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CORE MECHANISM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AB7D0D-AB07-4FD8-9881-94653785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A private proof reveals only the facts a program needs.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DA4AD92-D729-40F3-A294-92123EFA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34B91-9CC8-4FEF-82F6-CA94A5FD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75AA91-3C6E-4B83-8C7C-81D4043F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72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E62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2D4C99-B02D-440E-8266-2F2CC52A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PRIVATE WITNESS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6917CE-84F2-4561-8269-43B2FFCE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Eligibility answers, claimant secret, signed credential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D7AD3-68CE-4699-AA85-2DB9C671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658E69-C06D-416C-A57D-14F6A977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72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5B49F8-6A0B-4B62-9D5D-74A4570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95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COMPACT PROOF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1F6DB69-B6FE-40D8-8F7A-200E757E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Policy checks, signature verification, scoped nullifier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BC8D0-0223-4A8D-9840-1F9FEF04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9ED24B-732A-4BBF-BD7F-1B2D33A6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72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E62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D1F8ED9-07B7-4FE1-88D9-CF089FBA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95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MINIMAL STATE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865F53-A481-4C12-85FB-383D6D24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Used nullifier, program outcome, transaction evidence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09B6B5-48AD-43DC-9142-FFCED75A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33750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7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515AF98-A6F9-43B8-8638-4B773A21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33750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7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171718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CF53306-AB2B-40AD-8493-81DF1A0A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SELECTIVE DISCLOSURE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6300D0-4708-41CA-A126-D420FED8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The privacy boundary is explicit—and testable.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63527D2-D539-4A67-8C7A-AB92433A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D3B97-3624-451F-9C81-61881023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2578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0B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42F5F-CE86-46D2-9A61-ED52714B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14500"/>
            <a:ext cx="56959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CC9AD0-FC44-45F1-9BE3-659AD8E5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B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6FF"/>
                </a:solidFill>
                <a:latin typeface="Arial"/>
                <a:ea typeface="Arial"/>
                <a:cs typeface="Arial"/>
              </a:rPr>
              <a:t>STAYS PRIVATE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03E906-658D-403E-AFF1-7636ADEA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Claimant secret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Eligibility values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Raw credential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Subject binding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8B3C95-ED5E-446A-B5D3-31BD34A8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BECOMES PUBLIC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511E1CF-398B-4AE7-8760-1ABB8BF5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• Program-scoped nullifier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• Successful program outcome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• Issuer and policy metadata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• Scoped revocation handle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CE618D-3EC6-4917-B350-CC5190C9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055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Same claimant + different program = different nullifier</a:t>
            </a:r>
          </a:p>
        </p:txBody>
      </p:sp>
    </p:spTree>
    <p:extLst>
      <p:ext uri="{BB962C8B-B14F-4D97-AF65-F5344CB8AC3E}">
        <p14:creationId xmlns:p14="http://schemas.microsoft.com/office/powerpoint/2010/main" val="1569057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2D88139-4DF5-4E07-9950-C4EEDDB6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PRODUCT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F0C4B0-D6DC-45D5-92E4-6A6D9A06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Five steps reach the privacy moment.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A1E4DEC-752A-46BF-AEB0-ECF69A30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6AB20-A331-4701-B36E-B4283D7B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981200" cy="31432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C8AC5B4-EF39-48F4-95E4-B149C441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2866F9-C62A-4F3B-8BDB-F5642442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64B066-38A7-43AF-BA8D-7BB3BA29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Compatible v4 wallet; tested with 1AM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78DAE-8D0C-4C91-AC45-50FE4C7B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81200"/>
            <a:ext cx="1981200" cy="31432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5BC9C3-A49C-447D-B84F-C4FEDC29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38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AD76221-A851-4800-93B4-E76079E0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AE9BF8-299F-4B04-8243-EFA65E0E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9570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Create a private claimant commitment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9D30C-2867-4DFA-B68E-020CCB5A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1981200" cy="31432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599C80-A894-4829-B64F-99A14343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38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CDF3CED-50D7-495A-900F-334E5969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48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Credential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ACCEB2F-FF66-4C55-9FA4-165C9522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9570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Receive a signed test credential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6CC93-FDD3-4B3C-A71D-5626628C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81200"/>
            <a:ext cx="1981200" cy="31432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67F0341-783B-4DCF-9BAE-D7C72B02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C5F0917-4700-442B-A2A7-7D3FDE3D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1D6B121-87EC-4D95-8620-0D2BEBE9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Approve a private Preprod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FEF8D-DBCF-42CC-BB3B-68081F23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81200"/>
            <a:ext cx="1981200" cy="31432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8A7D52-73EF-49FF-87A8-E1433666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D055F0C-1868-4922-89AA-429565DD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7DDBAA2-1DBA-4BA6-BC7F-CAA767C2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9570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Inspect the confirmed transaction and state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d6ce5d1024b71"/>
          <a:stretch xmlns:a="http://schemas.openxmlformats.org/drawingml/2006/main"/>
        </p:blipFill>
        <p:spPr>
          <a:xfrm xmlns:a="http://schemas.openxmlformats.org/drawingml/2006/main">
            <a:off x="9801225" y="5219700"/>
            <a:ext cx="1257300" cy="838200"/>
          </a:xfrm>
          <a:prstGeom xmlns:a="http://schemas.openxmlformats.org/drawingml/2006/main" prst="rect">
            <a:avLst/>
          </a:prstGeom>
        </p:spPr>
      </p:pic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005B924-E1BA-4129-8A0C-68E8B98C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Live product: alethia-pi.vercel.app</a:t>
            </a:r>
          </a:p>
        </p:txBody>
      </p:sp>
    </p:spTree>
    <p:extLst>
      <p:ext uri="{BB962C8B-B14F-4D97-AF65-F5344CB8AC3E}">
        <p14:creationId xmlns:p14="http://schemas.microsoft.com/office/powerpoint/2010/main" val="1986206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045F490-D3BD-476F-8AE2-5E724A10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MATERIAL PROGRESS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70B8DB-852C-4AC4-8A99-236C6489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Wave 1 converted a concept into a hardened Midnight path.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7574D92-1E58-4C22-A2CE-B0496324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947E3D1-866C-49A6-8C5C-ECE9CB26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Wave 1 added real Preprod execution, encrypted recovery, wallet compatibility and reproducible tests.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539A9-8FA4-4AF6-B759-F634637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2568F5-C68B-4D93-860D-DCEAFA71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AFE1F4-83A2-4B51-8E92-C7DD1357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automated tests passing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6D528-9A61-4AA4-86E8-B20C0483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42D0F2E-A519-49FB-BB7D-8B89356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116D22A-E365-4CFA-8479-56B1725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known production dependency advisories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47D1C-C19A-4D3D-BEB7-86B69BF2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D95C0AF-C632-4585-A2F3-D6A03FFB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5F6ADE-B04E-4B7F-B8F0-E49DFB9B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confirmed Preprod claim</a:t>
            </a:r>
          </a:p>
        </p:txBody>
      </p:sp>
    </p:spTree>
    <p:extLst>
      <p:ext uri="{BB962C8B-B14F-4D97-AF65-F5344CB8AC3E}">
        <p14:creationId xmlns:p14="http://schemas.microsoft.com/office/powerpoint/2010/main" val="1144421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54756B-B8DA-4C40-9FDD-97290D4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393CED-F360-4630-A72E-CE18148D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A live claim is confirmed on Midnight Preprod.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C6B4C59-95FB-46D3-8B32-ECA6490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0368865-A887-42BE-A4D8-5AB4CA01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6C43"/>
                </a:solidFill>
                <a:latin typeface="Arial"/>
                <a:ea typeface="Arial"/>
                <a:cs typeface="Arial"/>
              </a:rPr>
              <a:t>READY FOR REVIEW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9231B9-CEF7-4DD4-9245-75E8DF54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5334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✓ Compact source + managed artifacts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✓ Midnight client and wallet discovery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✓ Encrypted private state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✓ Redacted operational path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✓ Build, tests, typecheck, lint,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162BA-D579-4A2E-8A64-B1334E98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52768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0B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13DF14-4720-4AE5-A325-0B04303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B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6FF"/>
                </a:solidFill>
                <a:latin typeface="Arial"/>
                <a:ea typeface="Arial"/>
                <a:cs typeface="Arial"/>
              </a:rPr>
              <a:t>CONFIRMED ON PREPROD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018F06-01C6-4DA0-9F52-8ED0D88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Support claim
Block 2391682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29E547-F544-4BB3-AD71-EB15386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1AM wallet approval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Indexed successful contract call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Matching program and nullifier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A1D374-49C3-4338-B240-65531219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Evidence: github.com/0xNexuz/aletheia/tree/main/evidence</a:t>
            </a:r>
          </a:p>
        </p:txBody>
      </p:sp>
    </p:spTree>
    <p:extLst>
      <p:ext uri="{BB962C8B-B14F-4D97-AF65-F5344CB8AC3E}">
        <p14:creationId xmlns:p14="http://schemas.microsoft.com/office/powerpoint/2010/main" val="1131095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E1FCD2-7DA8-43F2-A040-D6BAC10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ALETHEIA · MIDNIGHT BUILDATHON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807F354-D293-44B4-8D5A-B193A5E1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Support without stigma.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D440C82-614B-49F3-A771-2C9C4B5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E6270"/>
                </a:solidFill>
                <a:latin typeface="Arial"/>
                <a:ea typeface="Arial"/>
                <a:cs typeface="Arial"/>
              </a:rPr>
              <a:t>Private eligibility.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E6270"/>
                </a:solidFill>
                <a:latin typeface="Arial"/>
                <a:ea typeface="Arial"/>
                <a:cs typeface="Arial"/>
              </a:rPr>
              <a:t>Public claim evidence.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E6270"/>
                </a:solidFill>
                <a:latin typeface="Arial"/>
                <a:ea typeface="Arial"/>
                <a:cs typeface="Arial"/>
              </a:rPr>
              <a:t>Accountable issuance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90229-B947-480E-9875-398A5A1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9814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D514EC-78C5-40EC-AB23-3612C115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25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57F5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6B0371-FB22-4A6E-B382-60CC498A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0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B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B12"/>
                </a:solidFill>
                <a:latin typeface="Arial"/>
                <a:ea typeface="Arial"/>
                <a:cs typeface="Arial"/>
              </a:rPr>
              <a:t>alethia-pi.vercel.app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8A05EF-5139-4716-B85D-9A19A9B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57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2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270"/>
                </a:solidFill>
                <a:latin typeface="Arial"/>
                <a:ea typeface="Arial"/>
                <a:cs typeface="Arial"/>
              </a:rPr>
              <a:t>github.com/0xNexuz/aletheia</a:t>
            </a:r>
          </a:p>
        </p:txBody>
      </p:sp>
    </p:spTree>
    <p:extLst>
      <p:ext uri="{BB962C8B-B14F-4D97-AF65-F5344CB8AC3E}">
        <p14:creationId xmlns:p14="http://schemas.microsoft.com/office/powerpoint/2010/main" val="625760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2026-09-04T23:40:20.1100000Z</dcterms:created>
  <dcterms:modified xsi:type="dcterms:W3CDTF">2026-09-04T23:40:20.1100000Z</dcterms:modified>
</coreProperties>
</file>