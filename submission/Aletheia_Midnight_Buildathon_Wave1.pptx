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c7591d852f846da" /><Relationship Type="http://schemas.openxmlformats.org/officeDocument/2006/relationships/extended-properties" Target="/docProps/app.xml" Id="R8e58423c4a5542be" /><Relationship Type="http://schemas.openxmlformats.org/officeDocument/2006/relationships/officeDocument" Target="/ppt/presentation.xml" Id="Reb452c788f3a49a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3f805366848438e"/>
  </p:sldMasterIdLst>
  <p:notesMasterIdLst>
    <p:notesMasterId xmlns:r="http://schemas.openxmlformats.org/officeDocument/2006/relationships" r:id="R5762d8e7d61b46fb"/>
  </p:notesMasterIdLst>
  <p:sldIdLst>
    <p:sldId xmlns:r="http://schemas.openxmlformats.org/officeDocument/2006/relationships" id="256" r:id="Ra54f7f3c37f44e3d"/>
    <p:sldId xmlns:r="http://schemas.openxmlformats.org/officeDocument/2006/relationships" id="257" r:id="R739a0b4936644bf5"/>
    <p:sldId xmlns:r="http://schemas.openxmlformats.org/officeDocument/2006/relationships" id="258" r:id="R2825fd27275843b1"/>
    <p:sldId xmlns:r="http://schemas.openxmlformats.org/officeDocument/2006/relationships" id="259" r:id="R503b0cbf944a4301"/>
    <p:sldId xmlns:r="http://schemas.openxmlformats.org/officeDocument/2006/relationships" id="260" r:id="Rb52969d5ca584346"/>
    <p:sldId xmlns:r="http://schemas.openxmlformats.org/officeDocument/2006/relationships" id="261" r:id="R6f6572943ac14bf5"/>
    <p:sldId xmlns:r="http://schemas.openxmlformats.org/officeDocument/2006/relationships" id="262" r:id="R853ce3e46fca47e9"/>
    <p:sldId xmlns:r="http://schemas.openxmlformats.org/officeDocument/2006/relationships" id="263" r:id="Re63436bdfc784bc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82db127b79f49aa" /><Relationship Type="http://schemas.openxmlformats.org/officeDocument/2006/relationships/slideMaster" Target="/ppt/slideMasters/slideMaster1.xml" Id="Rc3f805366848438e" /><Relationship Type="http://schemas.openxmlformats.org/officeDocument/2006/relationships/notesMaster" Target="/ppt/notesMasters/notesMaster1.xml" Id="R5762d8e7d61b46fb" /><Relationship Type="http://schemas.openxmlformats.org/officeDocument/2006/relationships/presProps" Target="/ppt/presProps.xml" Id="R2db89068b6284d4c" /><Relationship Type="http://schemas.openxmlformats.org/officeDocument/2006/relationships/tableStyles" Target="/ppt/tableStyles.xml" Id="R63d0bdc082e1468d" /><Relationship Type="http://schemas.openxmlformats.org/officeDocument/2006/relationships/slide" Target="/ppt/slides/slide1.xml" Id="Ra54f7f3c37f44e3d" /><Relationship Type="http://schemas.openxmlformats.org/officeDocument/2006/relationships/slide" Target="/ppt/slides/slide2.xml" Id="R739a0b4936644bf5" /><Relationship Type="http://schemas.openxmlformats.org/officeDocument/2006/relationships/slide" Target="/ppt/slides/slide3.xml" Id="R2825fd27275843b1" /><Relationship Type="http://schemas.openxmlformats.org/officeDocument/2006/relationships/slide" Target="/ppt/slides/slide4.xml" Id="R503b0cbf944a4301" /><Relationship Type="http://schemas.openxmlformats.org/officeDocument/2006/relationships/slide" Target="/ppt/slides/slide5.xml" Id="Rb52969d5ca584346" /><Relationship Type="http://schemas.openxmlformats.org/officeDocument/2006/relationships/slide" Target="/ppt/slides/slide6.xml" Id="R6f6572943ac14bf5" /><Relationship Type="http://schemas.openxmlformats.org/officeDocument/2006/relationships/slide" Target="/ppt/slides/slide7.xml" Id="R853ce3e46fca47e9" /><Relationship Type="http://schemas.openxmlformats.org/officeDocument/2006/relationships/slide" Target="/ppt/slides/slide8.xml" Id="Re63436bdfc784bc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a86ce119c9f4c7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45371edf42a43a4" /><Relationship Type="http://schemas.openxmlformats.org/officeDocument/2006/relationships/notesMaster" Target="/ppt/notesMasters/notesMaster1.xml" Id="Rafdb4b7c6f1a49e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446d28f6bf547a5" /><Relationship Type="http://schemas.openxmlformats.org/officeDocument/2006/relationships/notesMaster" Target="/ppt/notesMasters/notesMaster1.xml" Id="Re4224e23a31c44d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da81dacfff648d9" /><Relationship Type="http://schemas.openxmlformats.org/officeDocument/2006/relationships/notesMaster" Target="/ppt/notesMasters/notesMaster1.xml" Id="R6e462ad77857481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adfa571df81405f" /><Relationship Type="http://schemas.openxmlformats.org/officeDocument/2006/relationships/notesMaster" Target="/ppt/notesMasters/notesMaster1.xml" Id="R9ed523d983544b3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1a9487330e1441c" /><Relationship Type="http://schemas.openxmlformats.org/officeDocument/2006/relationships/notesMaster" Target="/ppt/notesMasters/notesMaster1.xml" Id="R2f101b26763e403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1e85c6c590e4b3c" /><Relationship Type="http://schemas.openxmlformats.org/officeDocument/2006/relationships/notesMaster" Target="/ppt/notesMasters/notesMaster1.xml" Id="R9019fbab92024ec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0022946ee294de5" /><Relationship Type="http://schemas.openxmlformats.org/officeDocument/2006/relationships/notesMaster" Target="/ppt/notesMasters/notesMaster1.xml" Id="R5820ecd2eb994dc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6401c1024944088" /><Relationship Type="http://schemas.openxmlformats.org/officeDocument/2006/relationships/notesMaster" Target="/ppt/notesMasters/notesMaster1.xml" Id="R201560cbc34f4a2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core tension: aid programs need accountability, but identity databases expose vulnerable people.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https://github.com/0xNexuz/aletheia</a:t>
            </a:r>
          </a:p>
          <a:p xmlns:a="http://schemas.openxmlformats.org/drawingml/2006/main">
            <a:r>
              <a:t>- https://api.akindo.io/public/wave-hacks/jaMZjqPOBsLXvjdG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Frame privacy as a product constraint, not a decorative feature.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https://github.com/0xNexuz/aletheia/blob/main/PRIVACY.md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left to right. The private inputs never need to become a public identity record.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https://github.com/0xNexuz/aletheia/blob/main/contract/src/aletheia.compact</a:t>
            </a:r>
          </a:p>
          <a:p xmlns:a="http://schemas.openxmlformats.org/drawingml/2006/main">
            <a:r>
              <a:t>- https://github.com/0xNexuz/aletheia/blob/main/ARCHITECTURE.md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program scope prevents the nullifier from becoming a global tracking key.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https://github.com/0xNexuz/aletheia/blob/main/PRIVACY.md</a:t>
            </a:r>
          </a:p>
          <a:p xmlns:a="http://schemas.openxmlformats.org/drawingml/2006/main">
            <a:r>
              <a:t>- https://github.com/0xNexuz/aletheia/blob/main/tests/privacy-contract.test.mjs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Keep the live demo short. The strongest sequence is success, same-program duplicate rejection, then a different program-scoped nullifier.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https://alethia-pi.vercel.app</a:t>
            </a:r>
          </a:p>
          <a:p xmlns:a="http://schemas.openxmlformats.org/drawingml/2006/main">
            <a:r>
              <a:t>- https://github.com/0xNexuz/aletheia/blob/main/DEMO.md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numbers as entry points, then name the qualitative hardening: generated artifacts, encrypted private state, Preprod validation, and reconciliation.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https://github.com/0xNexuz/aletheia/blob/main/WAVE1_PROGRESS.md</a:t>
            </a:r>
          </a:p>
          <a:p xmlns:a="http://schemas.openxmlformats.org/drawingml/2006/main">
            <a:r>
              <a:t>- https://github.com/0xNexuz/aletheia/tree/main/tests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 direct about the remaining gate. Credibility is stronger than presenting simulation as deployment.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https://github.com/0xNexuz/aletheia/blob/main/README.md</a:t>
            </a:r>
          </a:p>
          <a:p xmlns:a="http://schemas.openxmlformats.org/drawingml/2006/main">
            <a:r>
              <a:t>- https://github.com/0xNexuz/aletheia/blob/main/WAVE1_PROGRESS.md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by resolving the opening tension: accountability can be public without making the claimant public.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https://alethia-pi.vercel.app</a:t>
            </a:r>
          </a:p>
          <a:p xmlns:a="http://schemas.openxmlformats.org/drawingml/2006/main">
            <a:r>
              <a:t>- https://github.com/0xNexuz/aletheia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619378866ba448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da429940c0a41eb" /><Relationship Type="http://schemas.openxmlformats.org/officeDocument/2006/relationships/slideLayout" Target="/ppt/slideLayouts/slideLayout1.xml" Id="R0927f32712fb49f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927f32712fb49f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745693a07d4828" /><Relationship Type="http://schemas.openxmlformats.org/officeDocument/2006/relationships/image" Target="/ppt/media/image.png" Id="R547b0f828e794c18" /><Relationship Type="http://schemas.openxmlformats.org/officeDocument/2006/relationships/notesSlide" Target="/ppt/notesSlides/notesSlide1.xml" Id="R60ea8bcf606748f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9fd724a8434515" /><Relationship Type="http://schemas.openxmlformats.org/officeDocument/2006/relationships/notesSlide" Target="/ppt/notesSlides/notesSlide2.xml" Id="Rbcc2d5085282496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206f9b41054f68" /><Relationship Type="http://schemas.openxmlformats.org/officeDocument/2006/relationships/notesSlide" Target="/ppt/notesSlides/notesSlide3.xml" Id="R1a87cd34c40e49f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8fe709b6c94acd" /><Relationship Type="http://schemas.openxmlformats.org/officeDocument/2006/relationships/notesSlide" Target="/ppt/notesSlides/notesSlide4.xml" Id="Rca358b70b27e457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07f56d86084790" /><Relationship Type="http://schemas.openxmlformats.org/officeDocument/2006/relationships/image" Target="/ppt/media/image2.png" Id="Rb172d5bf848e4615" /><Relationship Type="http://schemas.openxmlformats.org/officeDocument/2006/relationships/notesSlide" Target="/ppt/notesSlides/notesSlide5.xml" Id="R3aacddd18d6f433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ba28488c5b45f7" /><Relationship Type="http://schemas.openxmlformats.org/officeDocument/2006/relationships/notesSlide" Target="/ppt/notesSlides/notesSlide6.xml" Id="R8ae6104baeb841d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cc82bbe87b4550" /><Relationship Type="http://schemas.openxmlformats.org/officeDocument/2006/relationships/notesSlide" Target="/ppt/notesSlides/notesSlide7.xml" Id="Re797d4b1d5ee49a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a063f452644cb4" /><Relationship Type="http://schemas.openxmlformats.org/officeDocument/2006/relationships/notesSlide" Target="/ppt/notesSlides/notesSlide8.xml" Id="R74bfe490384e4b7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40D16B-F7A3-4376-95B2-57129C6DA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61950"/>
            <a:ext cx="5143500" cy="5715000"/>
          </a:xfrm>
          <a:prstGeom xmlns:a="http://schemas.openxmlformats.org/drawingml/2006/main" prst="roundRect">
            <a:avLst>
              <a:gd name="adj" fmla="val 2222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522824F7-CD2A-4B41-A633-4EB1C0F62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9530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257F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257F5"/>
                </a:solidFill>
                <a:latin typeface="Arial"/>
                <a:ea typeface="Arial"/>
                <a:cs typeface="Arial"/>
              </a:rPr>
              <a:t>MIDNIGHT BUILDATHON · WAVE 1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7E695962-0952-434C-95D5-6EFAFD0BF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428750"/>
            <a:ext cx="5619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950" b="1">
                <a:solidFill>
                  <a:srgbClr val="0B0B12"/>
                </a:solidFill>
                <a:latin typeface="Arial"/>
                <a:ea typeface="Arial"/>
                <a:cs typeface="Arial"/>
              </a:defRPr>
            </a:pPr>
            <a:r>
              <a:rPr sz="4950" b="1">
                <a:solidFill>
                  <a:srgbClr val="0B0B12"/>
                </a:solidFill>
                <a:latin typeface="Arial"/>
                <a:ea typeface="Arial"/>
                <a:cs typeface="Arial"/>
              </a:rPr>
              <a:t>Aletheia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9C41443E-DF38-485A-96BB-827E7659B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381250"/>
            <a:ext cx="5334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6257F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6257F5"/>
                </a:solidFill>
                <a:latin typeface="Arial"/>
                <a:ea typeface="Arial"/>
                <a:cs typeface="Arial"/>
              </a:rPr>
              <a:t>Proof without exposure.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621CE528-F2D8-4D37-9A3E-2BC63E1E7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219450"/>
            <a:ext cx="5334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E627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E6270"/>
                </a:solidFill>
                <a:latin typeface="Arial"/>
                <a:ea typeface="Arial"/>
                <a:cs typeface="Arial"/>
              </a:rPr>
              <a:t>Prevent duplicate aid claims and over-allocation without building a public identity database.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CDA92CCD-71CE-438E-A934-62233A5B1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238750"/>
            <a:ext cx="5524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0B12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B0B12"/>
                </a:solidFill>
                <a:latin typeface="Arial"/>
                <a:ea typeface="Arial"/>
                <a:cs typeface="Arial"/>
              </a:rPr>
              <a:t>Compact contract · private witnesses · program-scoped nullifiers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7b0f828e794c18"/>
          <a:stretch xmlns:a="http://schemas.openxmlformats.org/drawingml/2006/main"/>
        </p:blipFill>
        <p:spPr>
          <a:xfrm xmlns:a="http://schemas.openxmlformats.org/drawingml/2006/main">
            <a:off x="7124700" y="2182813"/>
            <a:ext cx="4048125" cy="1349375"/>
          </a:xfrm>
          <a:prstGeom xmlns:a="http://schemas.openxmlformats.org/drawingml/2006/main" prst="rect">
            <a:avLst/>
          </a:prstGeom>
        </p:spPr>
      </p:pic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2A504A5C-804C-4F12-8E77-68477A616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E627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270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47520475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4F6B7982-1D51-4B77-B427-46243873C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685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257F5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257F5"/>
                </a:solidFill>
                <a:latin typeface="Arial"/>
                <a:ea typeface="Arial"/>
                <a:cs typeface="Arial"/>
              </a:rPr>
              <a:t>THE PROBLEM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491FAB9-D32E-4A1A-B101-43222072E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9600"/>
            <a:ext cx="112776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B0B12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B0B12"/>
                </a:solidFill>
                <a:latin typeface="Arial"/>
                <a:ea typeface="Arial"/>
                <a:cs typeface="Arial"/>
              </a:rPr>
              <a:t>Duplicate prevention should not become surveillance.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240345F8-D9AA-490F-A809-9B50271E7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E627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270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49D9DAB1-AFAC-473C-A654-D274D6105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0020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E62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E6270"/>
                </a:solidFill>
                <a:latin typeface="Arial"/>
                <a:ea typeface="Arial"/>
                <a:cs typeface="Arial"/>
              </a:rPr>
              <a:t>Aid programs must answer two legitimate questions: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EA1A3301-7761-48B9-A98B-DE19C94D9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476500"/>
            <a:ext cx="1047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6257F5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6257F5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0757B461-1E0C-43C5-8809-C2C6966D2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2590800"/>
            <a:ext cx="4191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218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B0B12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B0B12"/>
                </a:solidFill>
                <a:latin typeface="Arial"/>
                <a:ea typeface="Arial"/>
                <a:cs typeface="Arial"/>
              </a:rPr>
              <a:t>Has this person already claimed here?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693B4433-EC45-4C93-AE31-008895735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57625"/>
            <a:ext cx="1047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2D9CDB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2D9CDB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A8072150-AB5D-41BB-9B2D-DB6CD2E3B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3971925"/>
            <a:ext cx="4191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B0B12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B0B12"/>
                </a:solidFill>
                <a:latin typeface="Arial"/>
                <a:ea typeface="Arial"/>
                <a:cs typeface="Arial"/>
              </a:rPr>
              <a:t>Is there still verified inventory available?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526C6C-BC32-4371-8C4E-C5F8034DA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1657350"/>
            <a:ext cx="5000625" cy="4095750"/>
          </a:xfrm>
          <a:prstGeom xmlns:a="http://schemas.openxmlformats.org/drawingml/2006/main" prst="roundRect">
            <a:avLst>
              <a:gd name="adj" fmla="val 2791"/>
            </a:avLst>
          </a:prstGeom>
          <a:solidFill xmlns:a="http://schemas.openxmlformats.org/drawingml/2006/main">
            <a:srgbClr val="0B0B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F89016D1-2516-40BD-B60D-0777F7AF2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095500"/>
            <a:ext cx="3905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B9B6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B9B6FF"/>
                </a:solidFill>
                <a:latin typeface="Arial"/>
                <a:ea typeface="Arial"/>
                <a:cs typeface="Arial"/>
              </a:rPr>
              <a:t>The usual shortcut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DA4F524A-A8E3-4102-AB17-9D5482E92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714625"/>
            <a:ext cx="3810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901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Collect identity.</a:t>
            </a:r>
          </a:p>
          <a:p xmlns:a="http://schemas.openxmlformats.org/drawingml/2006/main">
            <a:pPr algn="l"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Reuse a public identifier.</a:t>
            </a:r>
          </a:p>
          <a:p xmlns:a="http://schemas.openxmlformats.org/drawingml/2006/main">
            <a:pPr algn="l"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Create a tracking surface.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00E31907-906A-4D73-AA75-78FDA8D7F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953000"/>
            <a:ext cx="3905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Aletheia proves the facts instead.</a:t>
            </a:r>
          </a:p>
        </p:txBody>
      </p:sp>
    </p:spTree>
    <p:extLst>
      <p:ext uri="{BB962C8B-B14F-4D97-AF65-F5344CB8AC3E}">
        <p14:creationId xmlns:p14="http://schemas.microsoft.com/office/powerpoint/2010/main" val="125956342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D7C80C36-E689-4D9A-88C5-23B596485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685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257F5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257F5"/>
                </a:solidFill>
                <a:latin typeface="Arial"/>
                <a:ea typeface="Arial"/>
                <a:cs typeface="Arial"/>
              </a:rPr>
              <a:t>CORE MECHANISM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5AB7D0D-AB07-4FD8-9881-946537857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9600"/>
            <a:ext cx="112776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B0B12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B0B12"/>
                </a:solidFill>
                <a:latin typeface="Arial"/>
                <a:ea typeface="Arial"/>
                <a:cs typeface="Arial"/>
              </a:rPr>
              <a:t>A private proof reveals only the facts a program needs.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2DA4AD92-D729-40F3-A294-92123EFA2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E627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270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234B91-9CC8-4FEF-82F6-CA94A5FD3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38350"/>
            <a:ext cx="3143250" cy="34290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2F3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EE75AA91-3C6E-4B83-8C7C-81D4043F1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43150"/>
            <a:ext cx="7239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7009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5E6270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5E6270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E82D4C99-B02D-440E-8266-2F2CC52A2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95625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257F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257F5"/>
                </a:solidFill>
                <a:latin typeface="Arial"/>
                <a:ea typeface="Arial"/>
                <a:cs typeface="Arial"/>
              </a:rPr>
              <a:t>PRIVATE WITNESS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386917CE-84F2-4561-8269-43B2FFCE0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95700"/>
            <a:ext cx="257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0B12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B0B12"/>
                </a:solidFill>
                <a:latin typeface="Arial"/>
                <a:ea typeface="Arial"/>
                <a:cs typeface="Arial"/>
              </a:rPr>
              <a:t>Eligibility answers, claimant secret, signed credential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ED7AD3-68CE-4699-AA85-2DB9C671F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038350"/>
            <a:ext cx="3143250" cy="34290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16658E69-C06D-416C-A57D-14F6A977B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343150"/>
            <a:ext cx="7239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7009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6257F5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6257F5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655B49F8-6A0B-4B62-9D5D-74A45709F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095625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257F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257F5"/>
                </a:solidFill>
                <a:latin typeface="Arial"/>
                <a:ea typeface="Arial"/>
                <a:cs typeface="Arial"/>
              </a:rPr>
              <a:t>COMPACT PROOF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F1F6DB69-B6FE-40D8-8F7A-200E757EF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695700"/>
            <a:ext cx="257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0B12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B0B12"/>
                </a:solidFill>
                <a:latin typeface="Arial"/>
                <a:ea typeface="Arial"/>
                <a:cs typeface="Arial"/>
              </a:rPr>
              <a:t>Policy checks, signature verification, scoped nullifier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3BC8D0-0223-4A8D-9840-1F9FEF04A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038350"/>
            <a:ext cx="3143250" cy="34290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2F3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859ED24B-732A-4BBF-BD7F-1B2D33A6D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343150"/>
            <a:ext cx="7239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7009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5E6270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5E6270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FD1F8ED9-07B7-4FE1-88D9-CF089FBA4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095625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257F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257F5"/>
                </a:solidFill>
                <a:latin typeface="Arial"/>
                <a:ea typeface="Arial"/>
                <a:cs typeface="Arial"/>
              </a:rPr>
              <a:t>MINIMAL STATE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CB865F53-A481-4C12-85FB-383D6D244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695700"/>
            <a:ext cx="257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0B12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B0B12"/>
                </a:solidFill>
                <a:latin typeface="Arial"/>
                <a:ea typeface="Arial"/>
                <a:cs typeface="Arial"/>
              </a:rPr>
              <a:t>Used nullifier, capped inventory, transaction evidence</a:t>
            </a:r>
          </a:p>
        </p:txBody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EC09B6B5-48AD-43DC-9142-FFCED75A0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5225" y="3333750"/>
            <a:ext cx="4191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8737"/>
          </a:bodyPr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6257F5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6257F5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7515AF98-A6F9-43B8-8638-4B773A212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225" y="3333750"/>
            <a:ext cx="4191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8737"/>
          </a:bodyPr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6257F5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6257F5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</p:spTree>
    <p:extLst>
      <p:ext uri="{BB962C8B-B14F-4D97-AF65-F5344CB8AC3E}">
        <p14:creationId xmlns:p14="http://schemas.microsoft.com/office/powerpoint/2010/main" val="117171806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CCF53306-AB2B-40AD-8493-81DF1A0AB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685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257F5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257F5"/>
                </a:solidFill>
                <a:latin typeface="Arial"/>
                <a:ea typeface="Arial"/>
                <a:cs typeface="Arial"/>
              </a:rPr>
              <a:t>SELECTIVE DISCLOSURE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D6300D0-4708-41CA-A126-D420FED8E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9600"/>
            <a:ext cx="112776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B0B12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B0B12"/>
                </a:solidFill>
                <a:latin typeface="Arial"/>
                <a:ea typeface="Arial"/>
                <a:cs typeface="Arial"/>
              </a:rPr>
              <a:t>The privacy boundary is explicit—and testable.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C63527D2-D539-4A67-8C7A-AB92433AF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E627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27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9D3B97-3624-451F-9C81-618810238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714500"/>
            <a:ext cx="5257800" cy="3905250"/>
          </a:xfrm>
          <a:prstGeom xmlns:a="http://schemas.openxmlformats.org/drawingml/2006/main" prst="roundRect">
            <a:avLst>
              <a:gd name="adj" fmla="val 2927"/>
            </a:avLst>
          </a:prstGeom>
          <a:solidFill xmlns:a="http://schemas.openxmlformats.org/drawingml/2006/main">
            <a:srgbClr val="0B0B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542F5F-CE86-46D2-9A61-ED52714B7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714500"/>
            <a:ext cx="5695950" cy="3905250"/>
          </a:xfrm>
          <a:prstGeom xmlns:a="http://schemas.openxmlformats.org/drawingml/2006/main" prst="roundRect">
            <a:avLst>
              <a:gd name="adj" fmla="val 2927"/>
            </a:avLst>
          </a:prstGeom>
          <a:solidFill xmlns:a="http://schemas.openxmlformats.org/drawingml/2006/main">
            <a:srgbClr val="F2F3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34CC9AD0-FC44-45F1-9BE3-659AD8E5F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4095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9B6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B9B6FF"/>
                </a:solidFill>
                <a:latin typeface="Arial"/>
                <a:ea typeface="Arial"/>
                <a:cs typeface="Arial"/>
              </a:rPr>
              <a:t>STAYS PRIVATE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7C03E906-658D-403E-AFF1-7636ADEA6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62250"/>
            <a:ext cx="409575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• Claimant secret</a:t>
            </a:r>
          </a:p>
          <a:p xmlns:a="http://schemas.openxmlformats.org/drawingml/2006/main">
            <a:pPr algn="l"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• Eligibility answers</a:t>
            </a:r>
          </a:p>
          <a:p xmlns:a="http://schemas.openxmlformats.org/drawingml/2006/main">
            <a:pPr algn="l"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• Raw credential</a:t>
            </a:r>
          </a:p>
          <a:p xmlns:a="http://schemas.openxmlformats.org/drawingml/2006/main">
            <a:pPr algn="l"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• Cross-program identity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298B3C95-ED5E-446A-B5D3-31BD34A83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095500"/>
            <a:ext cx="4095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257F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257F5"/>
                </a:solidFill>
                <a:latin typeface="Arial"/>
                <a:ea typeface="Arial"/>
                <a:cs typeface="Arial"/>
              </a:rPr>
              <a:t>BECOMES PUBLIC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D511E1CF-398B-4AE7-8760-1ABB8BF5F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762250"/>
            <a:ext cx="4762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0B0B12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B0B12"/>
                </a:solidFill>
                <a:latin typeface="Arial"/>
                <a:ea typeface="Arial"/>
                <a:cs typeface="Arial"/>
              </a:rPr>
              <a:t>• Program-scoped nullifier</a:t>
            </a:r>
          </a:p>
          <a:p xmlns:a="http://schemas.openxmlformats.org/drawingml/2006/main">
            <a:pPr algn="l">
              <a:defRPr sz="2175" b="1">
                <a:solidFill>
                  <a:srgbClr val="0B0B12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B0B12"/>
                </a:solidFill>
                <a:latin typeface="Arial"/>
                <a:ea typeface="Arial"/>
                <a:cs typeface="Arial"/>
              </a:rPr>
              <a:t>• Remaining inventory</a:t>
            </a:r>
          </a:p>
          <a:p xmlns:a="http://schemas.openxmlformats.org/drawingml/2006/main">
            <a:pPr algn="l">
              <a:defRPr sz="2175" b="1">
                <a:solidFill>
                  <a:srgbClr val="0B0B12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B0B12"/>
                </a:solidFill>
                <a:latin typeface="Arial"/>
                <a:ea typeface="Arial"/>
                <a:cs typeface="Arial"/>
              </a:rPr>
              <a:t>• Policy metadata</a:t>
            </a:r>
          </a:p>
          <a:p xmlns:a="http://schemas.openxmlformats.org/drawingml/2006/main">
            <a:pPr algn="l">
              <a:defRPr sz="2175" b="1">
                <a:solidFill>
                  <a:srgbClr val="0B0B12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B0B12"/>
                </a:solidFill>
                <a:latin typeface="Arial"/>
                <a:ea typeface="Arial"/>
                <a:cs typeface="Arial"/>
              </a:rPr>
              <a:t>• Receipt and chain evidence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C8CE618D-3EC6-4917-B350-CC5190C99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5905500"/>
            <a:ext cx="762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406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6257F5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6257F5"/>
                </a:solidFill>
                <a:latin typeface="Arial"/>
                <a:ea typeface="Arial"/>
                <a:cs typeface="Arial"/>
              </a:rPr>
              <a:t>Same claimant + different program = different nullifier</a:t>
            </a:r>
          </a:p>
        </p:txBody>
      </p:sp>
    </p:spTree>
    <p:extLst>
      <p:ext uri="{BB962C8B-B14F-4D97-AF65-F5344CB8AC3E}">
        <p14:creationId xmlns:p14="http://schemas.microsoft.com/office/powerpoint/2010/main" val="156905744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">
            <a:extLst xmlns:a="http://schemas.openxmlformats.org/drawingml/2006/main">
              <a:ext uri="{FF2B5EF4-FFF2-40B4-BE49-F238E27FC236}">
                <a16:creationId xmlns:a16="http://schemas.microsoft.com/office/drawing/2014/main" id="{02D88139-4DF5-4E07-9950-C4EEDDB6F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685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257F5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257F5"/>
                </a:solidFill>
                <a:latin typeface="Arial"/>
                <a:ea typeface="Arial"/>
                <a:cs typeface="Arial"/>
              </a:rPr>
              <a:t>PRODUCT WALKTHROUGH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6F0C4B0-D6DC-45D5-92E4-6A6D9A066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9600"/>
            <a:ext cx="112776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B0B12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B0B12"/>
                </a:solidFill>
                <a:latin typeface="Arial"/>
                <a:ea typeface="Arial"/>
                <a:cs typeface="Arial"/>
              </a:rPr>
              <a:t>Five steps reach the privacy moment.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3A1E4DEC-752A-46BF-AEB0-ECF69A304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E627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270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76AB20-A331-4701-B36E-B4283D7BD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81200"/>
            <a:ext cx="1981200" cy="3143250"/>
          </a:xfrm>
          <a:prstGeom xmlns:a="http://schemas.openxmlformats.org/drawingml/2006/main" prst="roundRect">
            <a:avLst>
              <a:gd name="adj" fmla="val 5769"/>
            </a:avLst>
          </a:prstGeom>
          <a:solidFill xmlns:a="http://schemas.openxmlformats.org/drawingml/2006/main">
            <a:srgbClr val="F2F3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CC8AC5B4-EF39-48F4-95E4-B149C441D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38375"/>
            <a:ext cx="533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6257F5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6257F5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1B2866F9-C62A-4F3B-8BDB-F5642442B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0"/>
            <a:ext cx="152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B0B12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B0B12"/>
                </a:solidFill>
                <a:latin typeface="Arial"/>
                <a:ea typeface="Arial"/>
                <a:cs typeface="Arial"/>
              </a:rPr>
              <a:t>Connect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B464B066-38A7-43AF-BA8D-7BB3BA29D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95700"/>
            <a:ext cx="1524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E62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270"/>
                </a:solidFill>
                <a:latin typeface="Arial"/>
                <a:ea typeface="Arial"/>
                <a:cs typeface="Arial"/>
              </a:rPr>
              <a:t>Any enabled Connector API v4 wallet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C78DAE-8D0C-4C91-AC45-50FE4C7B0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981200"/>
            <a:ext cx="1981200" cy="3143250"/>
          </a:xfrm>
          <a:prstGeom xmlns:a="http://schemas.openxmlformats.org/drawingml/2006/main" prst="roundRect">
            <a:avLst>
              <a:gd name="adj" fmla="val 5769"/>
            </a:avLst>
          </a:prstGeom>
          <a:solidFill xmlns:a="http://schemas.openxmlformats.org/drawingml/2006/main">
            <a:srgbClr val="F2F3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AB5BC9C3-A49C-447D-B84F-C4FEDC29C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238375"/>
            <a:ext cx="533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6257F5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6257F5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3AD76221-A851-4800-93B4-E76079E0E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048000"/>
            <a:ext cx="152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B0B12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B0B12"/>
                </a:solidFill>
                <a:latin typeface="Arial"/>
                <a:ea typeface="Arial"/>
                <a:cs typeface="Arial"/>
              </a:rPr>
              <a:t>Commit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F2AE9BF8-299F-4B04-8243-EFA65E0E8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695700"/>
            <a:ext cx="1524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E62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270"/>
                </a:solidFill>
                <a:latin typeface="Arial"/>
                <a:ea typeface="Arial"/>
                <a:cs typeface="Arial"/>
              </a:rPr>
              <a:t>Create a private claimant commitment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F9D30C-2867-4DFA-B68E-020CCB5AE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981200"/>
            <a:ext cx="1981200" cy="3143250"/>
          </a:xfrm>
          <a:prstGeom xmlns:a="http://schemas.openxmlformats.org/drawingml/2006/main" prst="roundRect">
            <a:avLst>
              <a:gd name="adj" fmla="val 5769"/>
            </a:avLst>
          </a:prstGeom>
          <a:solidFill xmlns:a="http://schemas.openxmlformats.org/drawingml/2006/main">
            <a:srgbClr val="F2F3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34599C80-A894-4829-B64F-99A14343F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238375"/>
            <a:ext cx="533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6257F5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6257F5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6CDF3CED-50D7-495A-900F-334E5969A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048000"/>
            <a:ext cx="152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B0B12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B0B12"/>
                </a:solidFill>
                <a:latin typeface="Arial"/>
                <a:ea typeface="Arial"/>
                <a:cs typeface="Arial"/>
              </a:rPr>
              <a:t>Credential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8ACCEB2F-FF66-4C55-9FA4-165C9522C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695700"/>
            <a:ext cx="1524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E62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270"/>
                </a:solidFill>
                <a:latin typeface="Arial"/>
                <a:ea typeface="Arial"/>
                <a:cs typeface="Arial"/>
              </a:rPr>
              <a:t>Receive a signed eligibility credential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126CC93-FDD3-4B3C-A71D-5626628C5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981200"/>
            <a:ext cx="1981200" cy="3143250"/>
          </a:xfrm>
          <a:prstGeom xmlns:a="http://schemas.openxmlformats.org/drawingml/2006/main" prst="roundRect">
            <a:avLst>
              <a:gd name="adj" fmla="val 5769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267F0341-783B-4DCF-9BAE-D7C72B028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238375"/>
            <a:ext cx="533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6257F5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6257F5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BC5F0917-4700-442B-A2A7-7D3FDE3D2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048000"/>
            <a:ext cx="152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B0B12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B0B12"/>
                </a:solidFill>
                <a:latin typeface="Arial"/>
                <a:ea typeface="Arial"/>
                <a:cs typeface="Arial"/>
              </a:rPr>
              <a:t>Claim</a:t>
            </a:r>
          </a:p>
        </p:txBody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71D6B121-87EC-4D95-8620-0D2BEBE96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695700"/>
            <a:ext cx="1524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E62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270"/>
                </a:solidFill>
                <a:latin typeface="Arial"/>
                <a:ea typeface="Arial"/>
                <a:cs typeface="Arial"/>
              </a:rPr>
              <a:t>Prove eligibility and reserve inventory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3EFEF8D-DBCF-42CC-BB3B-68081F239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1981200"/>
            <a:ext cx="1981200" cy="3143250"/>
          </a:xfrm>
          <a:prstGeom xmlns:a="http://schemas.openxmlformats.org/drawingml/2006/main" prst="roundRect">
            <a:avLst>
              <a:gd name="adj" fmla="val 5769"/>
            </a:avLst>
          </a:prstGeom>
          <a:solidFill xmlns:a="http://schemas.openxmlformats.org/drawingml/2006/main">
            <a:srgbClr val="F2F3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C28A7D52-73EF-49FF-87A8-E14336666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238375"/>
            <a:ext cx="533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6257F5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6257F5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2" name="text">
            <a:extLst xmlns:a="http://schemas.openxmlformats.org/drawingml/2006/main">
              <a:ext uri="{FF2B5EF4-FFF2-40B4-BE49-F238E27FC236}">
                <a16:creationId xmlns:a16="http://schemas.microsoft.com/office/drawing/2014/main" id="{FD055F0C-1868-4922-89AA-429565DDD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048000"/>
            <a:ext cx="152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B0B12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B0B12"/>
                </a:solidFill>
                <a:latin typeface="Arial"/>
                <a:ea typeface="Arial"/>
                <a:cs typeface="Arial"/>
              </a:rPr>
              <a:t>Reject</a:t>
            </a:r>
          </a:p>
        </p:txBody>
      </p:sp>
      <p:sp>
        <p:nvSpPr>
          <p:cNvPr id="23" name="text">
            <a:extLst xmlns:a="http://schemas.openxmlformats.org/drawingml/2006/main">
              <a:ext uri="{FF2B5EF4-FFF2-40B4-BE49-F238E27FC236}">
                <a16:creationId xmlns:a16="http://schemas.microsoft.com/office/drawing/2014/main" id="{A7DDBAA2-1DBA-4BA6-BC7F-CAA767C2D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695700"/>
            <a:ext cx="1524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E62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270"/>
                </a:solidFill>
                <a:latin typeface="Arial"/>
                <a:ea typeface="Arial"/>
                <a:cs typeface="Arial"/>
              </a:rPr>
              <a:t>Retry the program and see duplicate protection</a:t>
            </a:r>
          </a:p>
        </p:txBody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72d5bf848e4615"/>
          <a:stretch xmlns:a="http://schemas.openxmlformats.org/drawingml/2006/main"/>
        </p:blipFill>
        <p:spPr>
          <a:xfrm xmlns:a="http://schemas.openxmlformats.org/drawingml/2006/main">
            <a:off x="9801225" y="5219700"/>
            <a:ext cx="1257300" cy="838200"/>
          </a:xfrm>
          <a:prstGeom xmlns:a="http://schemas.openxmlformats.org/drawingml/2006/main" prst="rect">
            <a:avLst/>
          </a:prstGeom>
        </p:spPr>
      </p:pic>
      <p:sp>
        <p:nvSpPr>
          <p:cNvPr id="25" name="text">
            <a:extLst xmlns:a="http://schemas.openxmlformats.org/drawingml/2006/main">
              <a:ext uri="{FF2B5EF4-FFF2-40B4-BE49-F238E27FC236}">
                <a16:creationId xmlns:a16="http://schemas.microsoft.com/office/drawing/2014/main" id="{9005B924-E1BA-4129-8A0C-68E8B98CD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15000"/>
            <a:ext cx="619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6257F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257F5"/>
                </a:solidFill>
                <a:latin typeface="Arial"/>
                <a:ea typeface="Arial"/>
                <a:cs typeface="Arial"/>
              </a:rPr>
              <a:t>Live product: aletheia-pi.vercel.app</a:t>
            </a:r>
          </a:p>
        </p:txBody>
      </p:sp>
    </p:spTree>
    <p:extLst>
      <p:ext uri="{BB962C8B-B14F-4D97-AF65-F5344CB8AC3E}">
        <p14:creationId xmlns:p14="http://schemas.microsoft.com/office/powerpoint/2010/main" val="198620668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1045F490-D3BD-476F-8AE2-5E724A10C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685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257F5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257F5"/>
                </a:solidFill>
                <a:latin typeface="Arial"/>
                <a:ea typeface="Arial"/>
                <a:cs typeface="Arial"/>
              </a:rPr>
              <a:t>MATERIAL PROGRESS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E70B8DB-852C-4AC4-8A99-236C6489C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9600"/>
            <a:ext cx="112776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8101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B0B12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B0B12"/>
                </a:solidFill>
                <a:latin typeface="Arial"/>
                <a:ea typeface="Arial"/>
                <a:cs typeface="Arial"/>
              </a:rPr>
              <a:t>Wave 1 converted a concept into a hardened Midnight path.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F7574D92-1E58-4C22-A2CE-B04963243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E627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270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8947E3D1-866C-49A6-8C5C-ECE9CB262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287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9233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E627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E6270"/>
                </a:solidFill>
                <a:latin typeface="Arial"/>
                <a:ea typeface="Arial"/>
                <a:cs typeface="Arial"/>
              </a:rPr>
              <a:t>The work centered on qualification, privacy guarantees, wallet compatibility, and evidence—not feature sprawl.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C539A9-8FA4-4AF6-B759-F6346372E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0"/>
            <a:ext cx="342900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2F3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C02568F5-C68B-4D93-860D-DCEAFA711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43250"/>
            <a:ext cx="2381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6257F5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6257F5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23AFE1F4-83A2-4B51-8E92-C7DD1357C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57700"/>
            <a:ext cx="2762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B0B12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B0B12"/>
                </a:solidFill>
                <a:latin typeface="Arial"/>
                <a:ea typeface="Arial"/>
                <a:cs typeface="Arial"/>
              </a:rPr>
              <a:t>automated tests passing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B6D528-9A61-4AA4-86E8-B20C04830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667000"/>
            <a:ext cx="342900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2F3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642D0F2E-A519-49FB-BB7D-8B8935632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143250"/>
            <a:ext cx="2381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0B0B12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0B0B12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E116D22A-E365-4CFA-8479-56B1725A1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457700"/>
            <a:ext cx="2762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B0B12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B0B12"/>
                </a:solidFill>
                <a:latin typeface="Arial"/>
                <a:ea typeface="Arial"/>
                <a:cs typeface="Arial"/>
              </a:rPr>
              <a:t>production audit vulnerabilities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D47D1C-C19A-4D3D-BEB7-86B69BF22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667000"/>
            <a:ext cx="342900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2F3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2D95C0AF-C632-4585-A2F3-D6A03FFB6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143250"/>
            <a:ext cx="2381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0B0B12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0B0B12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C95F6ADE-B04E-4B7F-B8F0-E49DFB9BC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457700"/>
            <a:ext cx="2762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B0B12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B0B12"/>
                </a:solidFill>
                <a:latin typeface="Arial"/>
                <a:ea typeface="Arial"/>
                <a:cs typeface="Arial"/>
              </a:rPr>
              <a:t>compiling Compact contract</a:t>
            </a:r>
          </a:p>
        </p:txBody>
      </p:sp>
    </p:spTree>
    <p:extLst>
      <p:ext uri="{BB962C8B-B14F-4D97-AF65-F5344CB8AC3E}">
        <p14:creationId xmlns:p14="http://schemas.microsoft.com/office/powerpoint/2010/main" val="114442134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1754756B-B8DA-4C40-9FDD-97290D4FE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685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257F5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257F5"/>
                </a:solidFill>
                <a:latin typeface="Arial"/>
                <a:ea typeface="Arial"/>
                <a:cs typeface="Arial"/>
              </a:rPr>
              <a:t>CURRENT STATE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0393CED-F360-4630-A72E-CE18148D3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9600"/>
            <a:ext cx="112776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6432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B0B12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B0B12"/>
                </a:solidFill>
                <a:latin typeface="Arial"/>
                <a:ea typeface="Arial"/>
                <a:cs typeface="Arial"/>
              </a:rPr>
              <a:t>The implementation is verifiable; Preprod evidence is the next gate.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1C6B4C59-95FB-46D3-8B32-ECA649012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E627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270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D0368865-A887-42BE-A4D8-5AB4CA01E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80975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46C4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46C43"/>
                </a:solidFill>
                <a:latin typeface="Arial"/>
                <a:ea typeface="Arial"/>
                <a:cs typeface="Arial"/>
              </a:rPr>
              <a:t>READY FOR REVIEW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289231B9-CEF7-4DD4-9245-75E8DF54F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00300"/>
            <a:ext cx="533400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B0B12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B0B12"/>
                </a:solidFill>
                <a:latin typeface="Arial"/>
                <a:ea typeface="Arial"/>
                <a:cs typeface="Arial"/>
              </a:rPr>
              <a:t>✓ Compact source + managed artifacts</a:t>
            </a:r>
          </a:p>
          <a:p xmlns:a="http://schemas.openxmlformats.org/drawingml/2006/main">
            <a:pPr algn="l">
              <a:defRPr sz="1875" b="1">
                <a:solidFill>
                  <a:srgbClr val="0B0B12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B0B12"/>
                </a:solidFill>
                <a:latin typeface="Arial"/>
                <a:ea typeface="Arial"/>
                <a:cs typeface="Arial"/>
              </a:rPr>
              <a:t>✓ Midnight client and wallet discovery</a:t>
            </a:r>
          </a:p>
          <a:p xmlns:a="http://schemas.openxmlformats.org/drawingml/2006/main">
            <a:pPr algn="l">
              <a:defRPr sz="1875" b="1">
                <a:solidFill>
                  <a:srgbClr val="0B0B12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B0B12"/>
                </a:solidFill>
                <a:latin typeface="Arial"/>
                <a:ea typeface="Arial"/>
                <a:cs typeface="Arial"/>
              </a:rPr>
              <a:t>✓ Encrypted private state</a:t>
            </a:r>
          </a:p>
          <a:p xmlns:a="http://schemas.openxmlformats.org/drawingml/2006/main">
            <a:pPr algn="l">
              <a:defRPr sz="1875" b="1">
                <a:solidFill>
                  <a:srgbClr val="0B0B12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B0B12"/>
                </a:solidFill>
                <a:latin typeface="Arial"/>
                <a:ea typeface="Arial"/>
                <a:cs typeface="Arial"/>
              </a:rPr>
              <a:t>✓ Redacted operational path</a:t>
            </a:r>
          </a:p>
          <a:p xmlns:a="http://schemas.openxmlformats.org/drawingml/2006/main">
            <a:pPr algn="l">
              <a:defRPr sz="1875" b="1">
                <a:solidFill>
                  <a:srgbClr val="0B0B12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B0B12"/>
                </a:solidFill>
                <a:latin typeface="Arial"/>
                <a:ea typeface="Arial"/>
                <a:cs typeface="Arial"/>
              </a:rPr>
              <a:t>✓ Build, tests, typecheck, lint, audit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9162BA-D579-4A2E-8A64-B1334E986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5276850" cy="3905250"/>
          </a:xfrm>
          <a:prstGeom xmlns:a="http://schemas.openxmlformats.org/drawingml/2006/main" prst="roundRect">
            <a:avLst>
              <a:gd name="adj" fmla="val 2927"/>
            </a:avLst>
          </a:prstGeom>
          <a:solidFill xmlns:a="http://schemas.openxmlformats.org/drawingml/2006/main">
            <a:srgbClr val="0B0B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9313DF14-4720-4AE5-A325-0B043031F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076450"/>
            <a:ext cx="4095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9B6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B9B6FF"/>
                </a:solidFill>
                <a:latin typeface="Arial"/>
                <a:ea typeface="Arial"/>
                <a:cs typeface="Arial"/>
              </a:rPr>
              <a:t>NOT CLAIMED YET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34018F06-01C6-4DA0-9F52-8ED0D88DC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667000"/>
            <a:ext cx="4095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 real Preprod contract address and transaction hash require: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A029E547-F544-4BB3-AD71-EB15386AA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714750"/>
            <a:ext cx="4095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• funded owner wallet</a:t>
            </a:r>
          </a:p>
          <a:p xmlns:a="http://schemas.openxmlformats.org/drawingml/2006/main">
            <a:pPr algn="l"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• working proof path</a:t>
            </a:r>
          </a:p>
          <a:p xmlns:a="http://schemas.openxmlformats.org/drawingml/2006/main">
            <a:pPr algn="l"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• confirmed on-chain transaction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50A1D374-49C3-4338-B240-65531219E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81025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406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6257F5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6257F5"/>
                </a:solidFill>
                <a:latin typeface="Arial"/>
                <a:ea typeface="Arial"/>
                <a:cs typeface="Arial"/>
              </a:rPr>
              <a:t>No fabricated chain evidence.</a:t>
            </a:r>
          </a:p>
        </p:txBody>
      </p:sp>
    </p:spTree>
    <p:extLst>
      <p:ext uri="{BB962C8B-B14F-4D97-AF65-F5344CB8AC3E}">
        <p14:creationId xmlns:p14="http://schemas.microsoft.com/office/powerpoint/2010/main" val="113109552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FEE1FCD2-7DA8-43F2-A040-D6BAC102C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9100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257F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6257F5"/>
                </a:solidFill>
                <a:latin typeface="Arial"/>
                <a:ea typeface="Arial"/>
                <a:cs typeface="Arial"/>
              </a:rPr>
              <a:t>ALETHEIA · MIDNIGHT BUILDATHON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0807F354-D293-44B4-8D5A-B193A5E1A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52625"/>
            <a:ext cx="10477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5100" b="1">
                <a:solidFill>
                  <a:srgbClr val="0B0B12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B0B12"/>
                </a:solidFill>
                <a:latin typeface="Arial"/>
                <a:ea typeface="Arial"/>
                <a:cs typeface="Arial"/>
              </a:rPr>
              <a:t>Support without stigma.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5D440C82-614B-49F3-A771-2C9C4B513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95750"/>
            <a:ext cx="5715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5E627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5E6270"/>
                </a:solidFill>
                <a:latin typeface="Arial"/>
                <a:ea typeface="Arial"/>
                <a:cs typeface="Arial"/>
              </a:rPr>
              <a:t>Public accountability.</a:t>
            </a:r>
          </a:p>
          <a:p xmlns:a="http://schemas.openxmlformats.org/drawingml/2006/main">
            <a:pPr algn="l">
              <a:defRPr sz="2250" b="1">
                <a:solidFill>
                  <a:srgbClr val="5E627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5E6270"/>
                </a:solidFill>
                <a:latin typeface="Arial"/>
                <a:ea typeface="Arial"/>
                <a:cs typeface="Arial"/>
              </a:rPr>
              <a:t>Private claimant.</a:t>
            </a:r>
          </a:p>
          <a:p xmlns:a="http://schemas.openxmlformats.org/drawingml/2006/main">
            <a:pPr algn="l">
              <a:defRPr sz="2250" b="1">
                <a:solidFill>
                  <a:srgbClr val="5E627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5E6270"/>
                </a:solidFill>
                <a:latin typeface="Arial"/>
                <a:ea typeface="Arial"/>
                <a:cs typeface="Arial"/>
              </a:rPr>
              <a:t>Verifiable limits.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590229-B947-480E-9875-398A5A1DC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095750"/>
            <a:ext cx="3981450" cy="1581150"/>
          </a:xfrm>
          <a:prstGeom xmlns:a="http://schemas.openxmlformats.org/drawingml/2006/main" prst="roundRect">
            <a:avLst>
              <a:gd name="adj" fmla="val 7229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CAD514EC-78C5-40EC-AB23-3612C1153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4005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257F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257F5"/>
                </a:solidFill>
                <a:latin typeface="Arial"/>
                <a:ea typeface="Arial"/>
                <a:cs typeface="Arial"/>
              </a:rPr>
              <a:t>Live demo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EF6B0371-FB22-4A6E-B382-60CC498A5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810125"/>
            <a:ext cx="314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8611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0B12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B0B12"/>
                </a:solidFill>
                <a:latin typeface="Arial"/>
                <a:ea typeface="Arial"/>
                <a:cs typeface="Arial"/>
              </a:rPr>
              <a:t>aletheia-pi.vercel.app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568A05EF-5139-4716-B85D-9A19A9BB9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52578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E62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E6270"/>
                </a:solidFill>
                <a:latin typeface="Arial"/>
                <a:ea typeface="Arial"/>
                <a:cs typeface="Arial"/>
              </a:rPr>
              <a:t>github.com/0xNexuz/aletheia</a:t>
            </a:r>
          </a:p>
        </p:txBody>
      </p:sp>
    </p:spTree>
    <p:extLst>
      <p:ext uri="{BB962C8B-B14F-4D97-AF65-F5344CB8AC3E}">
        <p14:creationId xmlns:p14="http://schemas.microsoft.com/office/powerpoint/2010/main" val="62576083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2026-08-29T10:44:32.5280000Z</dcterms:created>
  <dcterms:modified xsi:type="dcterms:W3CDTF">2026-08-29T10:44:32.5290000Z</dcterms:modified>
</coreProperties>
</file>